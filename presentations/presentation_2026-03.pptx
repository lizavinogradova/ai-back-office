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97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 i="0">
                <a:solidFill>
                  <a:srgbClr val="FFFF00"/>
                </a:solidFill>
                <a:latin typeface="Comic Sans MS"/>
              </a:rPr>
              <a:t>Март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0" i="0">
                <a:solidFill>
                  <a:srgbClr val="FFFFFF"/>
                </a:solidFill>
                <a:latin typeface="Comic Sans MS"/>
              </a:rPr>
              <a:t>Отчёт для руководства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1">
                <a:solidFill>
                  <a:srgbClr val="CCCCCC"/>
                </a:solidFill>
                <a:latin typeface="Comic Sans MS"/>
              </a:rPr>
              <a:t>Подготовил: Финансовый блок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8595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 i="0">
                <a:solidFill>
                  <a:srgbClr val="FF0000"/>
                </a:solidFill>
                <a:latin typeface="Comic Sans MS"/>
              </a:rPr>
              <a:t>РЕЗУЛЬТАТЫ МЕСЯЦА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685800"/>
          <a:ext cx="859536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/>
                <a:gridCol w="2148840"/>
                <a:gridCol w="2148840"/>
                <a:gridCol w="2148840"/>
              </a:tblGrid>
              <a:tr h="339634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Comic Sans MS"/>
                        </a:rPr>
                        <a:t>Доходы — направление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Comic Sans MS"/>
                        </a:rPr>
                        <a:t>Сумма (млн)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Comic Sans MS"/>
                        </a:rPr>
                        <a:t>vs прошл. мес. (%)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Comic Sans MS"/>
                        </a:rPr>
                        <a:t>Доля (%)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r>
                        <a:rPr sz="900" b="0">
                          <a:latin typeface="Comic Sans MS"/>
                        </a:rPr>
                        <a:t>Городские лектории</a:t>
                      </a:r>
                    </a:p>
                  </a:txBody>
                  <a:tcP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Comic Sans MS"/>
                        </a:rPr>
                        <a:t>41.2</a:t>
                      </a:r>
                    </a:p>
                  </a:txBody>
                  <a:tcP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Comic Sans MS"/>
                        </a:rPr>
                        <a:t>3.5</a:t>
                      </a:r>
                    </a:p>
                  </a:txBody>
                  <a:tcP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Comic Sans MS"/>
                        </a:rPr>
                        <a:t>34.0</a:t>
                      </a:r>
                    </a:p>
                  </a:txBody>
                  <a:tcPr>
                    <a:solidFill>
                      <a:srgbClr val="FFFFCC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r>
                        <a:rPr sz="900" b="0">
                          <a:latin typeface="Comic Sans MS"/>
                        </a:rPr>
                        <a:t>Онлайн-платформа</a:t>
                      </a:r>
                    </a:p>
                  </a:txBody>
                  <a:tcP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Comic Sans MS"/>
                        </a:rPr>
                        <a:t>24.6</a:t>
                      </a:r>
                    </a:p>
                  </a:txBody>
                  <a:tcP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Comic Sans MS"/>
                        </a:rPr>
                        <a:t>5.1</a:t>
                      </a:r>
                    </a:p>
                  </a:txBody>
                  <a:tcP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Comic Sans MS"/>
                        </a:rPr>
                        <a:t>20.3</a:t>
                      </a:r>
                    </a:p>
                  </a:txBody>
                  <a:tcPr>
                    <a:solidFill>
                      <a:srgbClr val="FFFFCC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r>
                        <a:rPr sz="900" b="0">
                          <a:latin typeface="Comic Sans MS"/>
                        </a:rPr>
                        <a:t>Издательство</a:t>
                      </a:r>
                    </a:p>
                  </a:txBody>
                  <a:tcP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Comic Sans MS"/>
                        </a:rPr>
                        <a:t>17.9</a:t>
                      </a:r>
                    </a:p>
                  </a:txBody>
                  <a:tcP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Comic Sans MS"/>
                        </a:rPr>
                        <a:t>4.1</a:t>
                      </a:r>
                    </a:p>
                  </a:txBody>
                  <a:tcP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Comic Sans MS"/>
                        </a:rPr>
                        <a:t>14.8</a:t>
                      </a:r>
                    </a:p>
                  </a:txBody>
                  <a:tcPr>
                    <a:solidFill>
                      <a:srgbClr val="FFFFCC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r>
                        <a:rPr sz="900" b="0">
                          <a:latin typeface="Comic Sans MS"/>
                        </a:rPr>
                        <a:t>Спецпроекты</a:t>
                      </a:r>
                    </a:p>
                  </a:txBody>
                  <a:tcP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Comic Sans MS"/>
                        </a:rPr>
                        <a:t>19.4</a:t>
                      </a:r>
                    </a:p>
                  </a:txBody>
                  <a:tcP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Comic Sans MS"/>
                        </a:rPr>
                        <a:t>-7.6</a:t>
                      </a:r>
                    </a:p>
                  </a:txBody>
                  <a:tcP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Comic Sans MS"/>
                        </a:rPr>
                        <a:t>16.0</a:t>
                      </a:r>
                    </a:p>
                  </a:txBody>
                  <a:tcPr>
                    <a:solidFill>
                      <a:srgbClr val="FFFFCC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r>
                        <a:rPr sz="900" b="0">
                          <a:latin typeface="Comic Sans MS"/>
                        </a:rPr>
                        <a:t>B2B</a:t>
                      </a:r>
                    </a:p>
                  </a:txBody>
                  <a:tcP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Comic Sans MS"/>
                        </a:rPr>
                        <a:t>18.1</a:t>
                      </a:r>
                    </a:p>
                  </a:txBody>
                  <a:tcP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Comic Sans MS"/>
                        </a:rPr>
                        <a:t>-14.2</a:t>
                      </a:r>
                    </a:p>
                  </a:txBody>
                  <a:tcP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Comic Sans MS"/>
                        </a:rPr>
                        <a:t>14.9</a:t>
                      </a:r>
                    </a:p>
                  </a:txBody>
                  <a:tcPr>
                    <a:solidFill>
                      <a:srgbClr val="FFFFCC"/>
                    </a:solidFill>
                  </a:tcPr>
                </a:tc>
              </a:tr>
              <a:tr h="339636">
                <a:tc>
                  <a:txBody>
                    <a:bodyPr/>
                    <a:lstStyle/>
                    <a:p>
                      <a:r>
                        <a:rPr sz="900" b="0">
                          <a:latin typeface="Comic Sans MS"/>
                        </a:rPr>
                        <a:t>Итого</a:t>
                      </a:r>
                    </a:p>
                  </a:txBody>
                  <a:tcP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Comic Sans MS"/>
                        </a:rPr>
                        <a:t>121.2</a:t>
                      </a:r>
                    </a:p>
                  </a:txBody>
                  <a:tcP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Comic Sans MS"/>
                        </a:rPr>
                        <a:t>-1.1</a:t>
                      </a:r>
                    </a:p>
                  </a:txBody>
                  <a:tcP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Comic Sans MS"/>
                        </a:rPr>
                        <a:t>100.0</a:t>
                      </a:r>
                    </a:p>
                  </a:txBody>
                  <a:tcPr>
                    <a:solidFill>
                      <a:srgbClr val="FFFFC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3200400"/>
          <a:ext cx="859536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/>
                <a:gridCol w="2148840"/>
                <a:gridCol w="2148840"/>
                <a:gridCol w="2148840"/>
              </a:tblGrid>
              <a:tr h="34290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Comic Sans MS"/>
                        </a:rPr>
                        <a:t>Расходы — статья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Comic Sans MS"/>
                        </a:rPr>
                        <a:t>Сумма (млн)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Comic Sans MS"/>
                        </a:rPr>
                        <a:t>vs прошл. мес. (%)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Comic Sans MS"/>
                        </a:rPr>
                        <a:t>Доля (%)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900" b="0">
                          <a:latin typeface="Comic Sans MS"/>
                        </a:rPr>
                        <a:t>ФОТ</a:t>
                      </a:r>
                    </a:p>
                  </a:txBody>
                  <a:tcP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Comic Sans MS"/>
                        </a:rPr>
                        <a:t>40.9</a:t>
                      </a:r>
                    </a:p>
                  </a:txBody>
                  <a:tcP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Comic Sans MS"/>
                        </a:rPr>
                        <a:t>2.0</a:t>
                      </a:r>
                    </a:p>
                  </a:txBody>
                  <a:tcP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Comic Sans MS"/>
                        </a:rPr>
                        <a:t>41.9</a:t>
                      </a:r>
                    </a:p>
                  </a:txBody>
                  <a:tcPr>
                    <a:solidFill>
                      <a:srgbClr val="FFFFCC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900" b="0">
                          <a:latin typeface="Comic Sans MS"/>
                        </a:rPr>
                        <a:t>Аренда</a:t>
                      </a:r>
                    </a:p>
                  </a:txBody>
                  <a:tcP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Comic Sans MS"/>
                        </a:rPr>
                        <a:t>13.1</a:t>
                      </a:r>
                    </a:p>
                  </a:txBody>
                  <a:tcP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Comic Sans MS"/>
                        </a:rPr>
                        <a:t>-3.0</a:t>
                      </a:r>
                    </a:p>
                  </a:txBody>
                  <a:tcP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Comic Sans MS"/>
                        </a:rPr>
                        <a:t>13.4</a:t>
                      </a:r>
                    </a:p>
                  </a:txBody>
                  <a:tcPr>
                    <a:solidFill>
                      <a:srgbClr val="FFFFCC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900" b="0">
                          <a:latin typeface="Comic Sans MS"/>
                        </a:rPr>
                        <a:t>Гонорары</a:t>
                      </a:r>
                    </a:p>
                  </a:txBody>
                  <a:tcP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Comic Sans MS"/>
                        </a:rPr>
                        <a:t>16.7</a:t>
                      </a:r>
                    </a:p>
                  </a:txBody>
                  <a:tcP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Comic Sans MS"/>
                        </a:rPr>
                        <a:t>3.1</a:t>
                      </a:r>
                    </a:p>
                  </a:txBody>
                  <a:tcP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Comic Sans MS"/>
                        </a:rPr>
                        <a:t>17.1</a:t>
                      </a:r>
                    </a:p>
                  </a:txBody>
                  <a:tcPr>
                    <a:solidFill>
                      <a:srgbClr val="FFFFCC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900" b="0">
                          <a:latin typeface="Comic Sans MS"/>
                        </a:rPr>
                        <a:t>Маркетинг</a:t>
                      </a:r>
                    </a:p>
                  </a:txBody>
                  <a:tcP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Comic Sans MS"/>
                        </a:rPr>
                        <a:t>10.4</a:t>
                      </a:r>
                    </a:p>
                  </a:txBody>
                  <a:tcP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Comic Sans MS"/>
                        </a:rPr>
                        <a:t>-10.3</a:t>
                      </a:r>
                    </a:p>
                  </a:txBody>
                  <a:tcP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Comic Sans MS"/>
                        </a:rPr>
                        <a:t>10.6</a:t>
                      </a:r>
                    </a:p>
                  </a:txBody>
                  <a:tcPr>
                    <a:solidFill>
                      <a:srgbClr val="FFFFCC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900" b="0">
                          <a:latin typeface="Comic Sans MS"/>
                        </a:rPr>
                        <a:t>Операции / IT</a:t>
                      </a:r>
                    </a:p>
                  </a:txBody>
                  <a:tcP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Comic Sans MS"/>
                        </a:rPr>
                        <a:t>6.8</a:t>
                      </a:r>
                    </a:p>
                  </a:txBody>
                  <a:tcP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Comic Sans MS"/>
                        </a:rPr>
                        <a:t>3.0</a:t>
                      </a:r>
                    </a:p>
                  </a:txBody>
                  <a:tcP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Comic Sans MS"/>
                        </a:rPr>
                        <a:t>7.0</a:t>
                      </a:r>
                    </a:p>
                  </a:txBody>
                  <a:tcPr>
                    <a:solidFill>
                      <a:srgbClr val="FFFFCC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900" b="0">
                          <a:latin typeface="Comic Sans MS"/>
                        </a:rPr>
                        <a:t>Производство контента</a:t>
                      </a:r>
                    </a:p>
                  </a:txBody>
                  <a:tcP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Comic Sans MS"/>
                        </a:rPr>
                        <a:t>9.8</a:t>
                      </a:r>
                    </a:p>
                  </a:txBody>
                  <a:tcP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Comic Sans MS"/>
                        </a:rPr>
                        <a:t>10.1</a:t>
                      </a:r>
                    </a:p>
                  </a:txBody>
                  <a:tcP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Comic Sans MS"/>
                        </a:rPr>
                        <a:t>10.0</a:t>
                      </a:r>
                    </a:p>
                  </a:txBody>
                  <a:tcPr>
                    <a:solidFill>
                      <a:srgbClr val="FFFFCC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900" b="0">
                          <a:latin typeface="Comic Sans MS"/>
                        </a:rPr>
                        <a:t>Итого</a:t>
                      </a:r>
                    </a:p>
                  </a:txBody>
                  <a:tcP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Comic Sans MS"/>
                        </a:rPr>
                        <a:t>97.7</a:t>
                      </a:r>
                    </a:p>
                  </a:txBody>
                  <a:tcP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Comic Sans MS"/>
                        </a:rPr>
                        <a:t>0.8</a:t>
                      </a:r>
                    </a:p>
                  </a:txBody>
                  <a:tcP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Comic Sans MS"/>
                        </a:rPr>
                        <a:t>100.0</a:t>
                      </a:r>
                    </a:p>
                  </a:txBody>
                  <a:tcPr>
                    <a:solidFill>
                      <a:srgbClr val="FFFFCC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74320" y="6126480"/>
            <a:ext cx="8595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i="0">
                <a:solidFill>
                  <a:srgbClr val="FF0000"/>
                </a:solidFill>
                <a:latin typeface="Comic Sans MS"/>
              </a:rPr>
              <a:t>EBITDA: 23.5 млн руб   |   Маржа EBITDA: 19.4%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 i="0">
                <a:solidFill>
                  <a:srgbClr val="FF0000"/>
                </a:solidFill>
                <a:latin typeface="Comic Sans MS"/>
              </a:rPr>
              <a:t>Флагманские проекты и KPI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731520"/>
          <a:ext cx="859536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072"/>
                <a:gridCol w="1719072"/>
                <a:gridCol w="1719072"/>
                <a:gridCol w="1719072"/>
                <a:gridCol w="1719072"/>
              </a:tblGrid>
              <a:tr h="42672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Comic Sans MS"/>
                        </a:rPr>
                        <a:t>Проект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Comic Sans MS"/>
                        </a:rPr>
                        <a:t>План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Comic Sans MS"/>
                        </a:rPr>
                        <a:t>Факт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Comic Sans MS"/>
                        </a:rPr>
                        <a:t>%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Comic Sans MS"/>
                        </a:rPr>
                        <a:t>Статус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r>
                        <a:rPr sz="900" b="0">
                          <a:latin typeface="Comic Sans MS"/>
                        </a:rPr>
                        <a:t>Весенние чтения</a:t>
                      </a:r>
                    </a:p>
                  </a:txBody>
                  <a:tcP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Comic Sans MS"/>
                        </a:rPr>
                        <a:t>14.5</a:t>
                      </a:r>
                    </a:p>
                  </a:txBody>
                  <a:tcP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Comic Sans MS"/>
                        </a:rPr>
                        <a:t>7.2</a:t>
                      </a:r>
                    </a:p>
                  </a:txBody>
                  <a:tcP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Comic Sans MS"/>
                        </a:rPr>
                        <a:t>49.7</a:t>
                      </a:r>
                    </a:p>
                  </a:txBody>
                  <a:tcP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Comic Sans MS"/>
                        </a:rPr>
                        <a:t>Старт</a:t>
                      </a:r>
                    </a:p>
                  </a:txBody>
                  <a:tcPr>
                    <a:solidFill>
                      <a:srgbClr val="FFFFCC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r>
                        <a:rPr sz="900" b="0">
                          <a:latin typeface="Comic Sans MS"/>
                        </a:rPr>
                        <a:t>Платформа 2.0</a:t>
                      </a:r>
                    </a:p>
                  </a:txBody>
                  <a:tcP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Comic Sans MS"/>
                        </a:rPr>
                        <a:t>38.6</a:t>
                      </a:r>
                    </a:p>
                  </a:txBody>
                  <a:tcP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Comic Sans MS"/>
                        </a:rPr>
                        <a:t>28.8</a:t>
                      </a:r>
                    </a:p>
                  </a:txBody>
                  <a:tcP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Comic Sans MS"/>
                        </a:rPr>
                        <a:t>74.6</a:t>
                      </a:r>
                    </a:p>
                  </a:txBody>
                  <a:tcP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Comic Sans MS"/>
                        </a:rPr>
                        <a:t>Идёт</a:t>
                      </a:r>
                    </a:p>
                  </a:txBody>
                  <a:tcPr>
                    <a:solidFill>
                      <a:srgbClr val="FFFFCC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r>
                        <a:rPr sz="900" b="0">
                          <a:latin typeface="Comic Sans MS"/>
                        </a:rPr>
                        <a:t>B2B Сбер</a:t>
                      </a:r>
                    </a:p>
                  </a:txBody>
                  <a:tcP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Comic Sans MS"/>
                        </a:rPr>
                        <a:t>28.0</a:t>
                      </a:r>
                    </a:p>
                  </a:txBody>
                  <a:tcP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Comic Sans MS"/>
                        </a:rPr>
                        <a:t>13.2</a:t>
                      </a:r>
                    </a:p>
                  </a:txBody>
                  <a:tcP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Comic Sans MS"/>
                        </a:rPr>
                        <a:t>47.1</a:t>
                      </a:r>
                    </a:p>
                  </a:txBody>
                  <a:tcP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Comic Sans MS"/>
                        </a:rPr>
                        <a:t>Отстаём</a:t>
                      </a:r>
                    </a:p>
                  </a:txBody>
                  <a:tcPr>
                    <a:solidFill>
                      <a:srgbClr val="FFFFCC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r>
                        <a:rPr sz="900" b="0">
                          <a:latin typeface="Comic Sans MS"/>
                        </a:rPr>
                        <a:t>Региональная — Сибирь</a:t>
                      </a:r>
                    </a:p>
                  </a:txBody>
                  <a:tcP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Comic Sans MS"/>
                        </a:rPr>
                        <a:t>21.0</a:t>
                      </a:r>
                    </a:p>
                  </a:txBody>
                  <a:tcP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Comic Sans MS"/>
                        </a:rPr>
                        <a:t>11.6</a:t>
                      </a:r>
                    </a:p>
                  </a:txBody>
                  <a:tcP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Comic Sans MS"/>
                        </a:rPr>
                        <a:t>55.2</a:t>
                      </a:r>
                    </a:p>
                  </a:txBody>
                  <a:tcP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Comic Sans MS"/>
                        </a:rPr>
                        <a:t>Идёт</a:t>
                      </a:r>
                    </a:p>
                  </a:txBody>
                  <a:tcPr>
                    <a:solidFill>
                      <a:srgbClr val="FFFFCC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r>
                        <a:rPr sz="900" b="0">
                          <a:latin typeface="Comic Sans MS"/>
                        </a:rPr>
                        <a:t>Аудиокниги</a:t>
                      </a:r>
                    </a:p>
                  </a:txBody>
                  <a:tcP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Comic Sans MS"/>
                        </a:rPr>
                        <a:t>9.4</a:t>
                      </a:r>
                    </a:p>
                  </a:txBody>
                  <a:tcP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Comic Sans MS"/>
                        </a:rPr>
                        <a:t>6.0</a:t>
                      </a:r>
                    </a:p>
                  </a:txBody>
                  <a:tcP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Comic Sans MS"/>
                        </a:rPr>
                        <a:t>63.8</a:t>
                      </a:r>
                    </a:p>
                  </a:txBody>
                  <a:tcP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Comic Sans MS"/>
                        </a:rPr>
                        <a:t>Идёт</a:t>
                      </a:r>
                    </a:p>
                  </a:txBody>
                  <a:tcPr>
                    <a:solidFill>
                      <a:srgbClr val="FFFFC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3566160"/>
          <a:ext cx="859536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/>
                <a:gridCol w="2148840"/>
                <a:gridCol w="2148840"/>
                <a:gridCol w="2148840"/>
              </a:tblGrid>
              <a:tr h="585216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Comic Sans MS"/>
                        </a:rPr>
                        <a:t>Метрика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Comic Sans MS"/>
                        </a:rPr>
                        <a:t>Цель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Comic Sans MS"/>
                        </a:rPr>
                        <a:t>Факт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Comic Sans MS"/>
                        </a:rPr>
                        <a:t>%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r>
                        <a:rPr sz="900" b="0">
                          <a:latin typeface="Comic Sans MS"/>
                        </a:rPr>
                        <a:t>Онлайн подписки</a:t>
                      </a:r>
                    </a:p>
                  </a:txBody>
                  <a:tcP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Comic Sans MS"/>
                        </a:rPr>
                        <a:t>4700</a:t>
                      </a:r>
                    </a:p>
                  </a:txBody>
                  <a:tcP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Comic Sans MS"/>
                        </a:rPr>
                        <a:t>4950</a:t>
                      </a:r>
                    </a:p>
                  </a:txBody>
                  <a:tcP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Comic Sans MS"/>
                        </a:rPr>
                        <a:t>105.3</a:t>
                      </a:r>
                    </a:p>
                  </a:txBody>
                  <a:tcPr>
                    <a:solidFill>
                      <a:srgbClr val="FFFFCC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r>
                        <a:rPr sz="900" b="0">
                          <a:latin typeface="Comic Sans MS"/>
                        </a:rPr>
                        <a:t>Билеты лектории</a:t>
                      </a:r>
                    </a:p>
                  </a:txBody>
                  <a:tcP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Comic Sans MS"/>
                        </a:rPr>
                        <a:t>18000</a:t>
                      </a:r>
                    </a:p>
                  </a:txBody>
                  <a:tcP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Comic Sans MS"/>
                        </a:rPr>
                        <a:t>17400</a:t>
                      </a:r>
                    </a:p>
                  </a:txBody>
                  <a:tcP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Comic Sans MS"/>
                        </a:rPr>
                        <a:t>96.7</a:t>
                      </a:r>
                    </a:p>
                  </a:txBody>
                  <a:tcPr>
                    <a:solidFill>
                      <a:srgbClr val="FFFFCC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r>
                        <a:rPr sz="900" b="0">
                          <a:latin typeface="Comic Sans MS"/>
                        </a:rPr>
                        <a:t>B2B контракты</a:t>
                      </a:r>
                    </a:p>
                  </a:txBody>
                  <a:tcP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Comic Sans MS"/>
                        </a:rPr>
                        <a:t>5</a:t>
                      </a:r>
                    </a:p>
                  </a:txBody>
                  <a:tcP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Comic Sans MS"/>
                        </a:rPr>
                        <a:t>3</a:t>
                      </a:r>
                    </a:p>
                  </a:txBody>
                  <a:tcP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Comic Sans MS"/>
                        </a:rPr>
                        <a:t>60.0</a:t>
                      </a:r>
                    </a:p>
                  </a:txBody>
                  <a:tcPr>
                    <a:solidFill>
                      <a:srgbClr val="FFFFCC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r>
                        <a:rPr sz="900" b="0">
                          <a:latin typeface="Comic Sans MS"/>
                        </a:rPr>
                        <a:t>NPS</a:t>
                      </a:r>
                    </a:p>
                  </a:txBody>
                  <a:tcP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Comic Sans MS"/>
                        </a:rPr>
                        <a:t>45</a:t>
                      </a:r>
                    </a:p>
                  </a:txBody>
                  <a:tcP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Comic Sans MS"/>
                        </a:rPr>
                        <a:t>47</a:t>
                      </a:r>
                    </a:p>
                  </a:txBody>
                  <a:tcP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Comic Sans MS"/>
                        </a:rPr>
                        <a:t>104.4</a:t>
                      </a:r>
                    </a:p>
                  </a:txBody>
                  <a:tcPr>
                    <a:solidFill>
                      <a:srgbClr val="FFFFC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97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8595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FFFF00"/>
                </a:solidFill>
                <a:latin typeface="Comic Sans MS"/>
              </a:rPr>
              <a:t>ВЫВОДЫ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>
                <a:solidFill>
                  <a:srgbClr val="FFFFFF"/>
                </a:solidFill>
                <a:latin typeface="Comic Sans MS"/>
              </a:rPr>
              <a:t>• Март закрыт ровно, без отклонений по EBITDA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FFFFFF"/>
                </a:solidFill>
                <a:latin typeface="Comic Sans MS"/>
              </a:rPr>
              <a:t>• Лектории и Платформа — рост сохраняется (+3.5% и +5.1%)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FFFFFF"/>
                </a:solidFill>
                <a:latin typeface="Comic Sans MS"/>
              </a:rPr>
              <a:t>• Весенние чтения стартовали, фактическое выполнение 49.7%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FFFFFF"/>
                </a:solidFill>
                <a:latin typeface="Comic Sans MS"/>
              </a:rPr>
              <a:t>• B2B Сбер — отстаём от графика, пайплайн под пересмотром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FFFFFF"/>
                </a:solidFill>
                <a:latin typeface="Comic Sans MS"/>
              </a:rPr>
              <a:t>• Платформа 2.0 — 74.6% выполнения, релиз ожидается в мае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